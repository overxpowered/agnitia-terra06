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Persistence schedule</c:v>
                </c:pt>
              </c:strCache>
            </c:strRef>
          </c:tx>
          <c:spPr>
            <a:solidFill>
              <a:srgbClr val="E5484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B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Solar</c:v>
                  </c:pt>
                  <c:pt idx="1">
                    <c:v>Wind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53.66</c:v>
                </c:pt>
                <c:pt idx="1">
                  <c:v>127.98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TERRA optimized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B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Solar</c:v>
                  </c:pt>
                  <c:pt idx="1">
                    <c:v>Wind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26.65</c:v>
                </c:pt>
                <c:pt idx="1">
                  <c:v>43.53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B1B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"/>
          <c:min val="0"/>
        </c:scaling>
        <c:delete val="0"/>
        <c:axPos val="l"/>
        <c:majorGridlines>
          <c:spPr>
            <a:ln w="9525" cap="flat">
              <a:solidFill>
                <a:srgbClr val="E3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Intro. TERRA = forecast + trust + decision. Plant is a calibrated virtual twin; say so up front.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Money slide. Persistence solar 53.66L -&gt; 26.65L; wind 127.98L -&gt; 43.53L. Total 181.64L -&gt; 70.18L, saving 111.45L = 1.11 Cr. Rates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forecast -&gt; decision -&gt; rupees. Be honest: twin plant, illustrative DSM rates, pricing is a hypothesis to validate with 3 IPPs.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AGNITIA HACKATHON  ·  TEAM OVERxPOWERED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01168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CE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solar + wind forecasting that turns weather uncertainty into saved rupees</a:t>
            </a:r>
            <a:endParaRPr lang="en-US" sz="2200" dirty="0"/>
          </a:p>
        </p:txBody>
      </p:sp>
      <p:sp>
        <p:nvSpPr>
          <p:cNvPr id="5" name="Bullet dot"/>
          <p:cNvSpPr/>
          <p:nvPr/>
        </p:nvSpPr>
        <p:spPr>
          <a:xfrm>
            <a:off x="457200" y="3108960"/>
            <a:ext cx="310896" cy="310896"/>
          </a:xfrm>
          <a:prstGeom prst="ellipse">
            <a:avLst/>
          </a:prstGeom>
          <a:solidFill>
            <a:srgbClr val="F5A524"/>
          </a:solidFill>
          <a:ln w="12700">
            <a:solidFill>
              <a:srgbClr val="0B1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3063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 hourly forecast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40 MW + wind 50 MW at Dewas, MP</a:t>
            </a:r>
            <a:endParaRPr lang="en-US" sz="1600" dirty="0"/>
          </a:p>
        </p:txBody>
      </p:sp>
      <p:sp>
        <p:nvSpPr>
          <p:cNvPr id="7" name="Bullet dot"/>
          <p:cNvSpPr/>
          <p:nvPr/>
        </p:nvSpPr>
        <p:spPr>
          <a:xfrm>
            <a:off x="457200" y="3675888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0B1B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36301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uncertainty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band + a Trust score per hour</a:t>
            </a:r>
            <a:endParaRPr lang="en-US" sz="1600" dirty="0"/>
          </a:p>
        </p:txBody>
      </p:sp>
      <p:sp>
        <p:nvSpPr>
          <p:cNvPr id="9" name="Bullet dot"/>
          <p:cNvSpPr/>
          <p:nvPr/>
        </p:nvSpPr>
        <p:spPr>
          <a:xfrm>
            <a:off x="457200" y="4242816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0B1B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19709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to decision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Alerts, battery dispatch, DSM schedule</a:t>
            </a:r>
            <a:endParaRPr lang="en-US" sz="1600" dirty="0"/>
          </a:p>
        </p:txBody>
      </p:sp>
      <p:pic>
        <p:nvPicPr>
          <p:cNvPr id="11" name="Image 0" descr="TERRA Control Room: combined solar and wind forecast with 80% ba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822960"/>
            <a:ext cx="5760720" cy="320040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12" name="Text 9"/>
          <p:cNvSpPr txBox="1"/>
          <p:nvPr/>
        </p:nvSpPr>
        <p:spPr>
          <a:xfrm>
            <a:off x="5989320" y="4114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Room: 48 h combined forecast, uncertainty band, trust ribbon, alerts</a:t>
            </a:r>
            <a:endParaRPr lang="en-US" sz="1200" dirty="0"/>
          </a:p>
        </p:txBody>
      </p:sp>
      <p:sp>
        <p:nvSpPr>
          <p:cNvPr id="13" name="Stat card"/>
          <p:cNvSpPr/>
          <p:nvPr/>
        </p:nvSpPr>
        <p:spPr>
          <a:xfrm>
            <a:off x="457200" y="493776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4293F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5029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MW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5715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co-located plant</a:t>
            </a:r>
            <a:endParaRPr lang="en-US" sz="1400" dirty="0"/>
          </a:p>
        </p:txBody>
      </p:sp>
      <p:sp>
        <p:nvSpPr>
          <p:cNvPr id="16" name="Stat card"/>
          <p:cNvSpPr/>
          <p:nvPr/>
        </p:nvSpPr>
        <p:spPr>
          <a:xfrm>
            <a:off x="3291840" y="493776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4293F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474720" y="5029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8" name="Text 15"/>
          <p:cNvSpPr txBox="1"/>
          <p:nvPr/>
        </p:nvSpPr>
        <p:spPr>
          <a:xfrm>
            <a:off x="3474720" y="5715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benchmarked</a:t>
            </a:r>
            <a:endParaRPr lang="en-US" sz="1400" dirty="0"/>
          </a:p>
        </p:txBody>
      </p:sp>
      <p:sp>
        <p:nvSpPr>
          <p:cNvPr id="19" name="Stat card"/>
          <p:cNvSpPr/>
          <p:nvPr/>
        </p:nvSpPr>
        <p:spPr>
          <a:xfrm>
            <a:off x="6126480" y="493776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4293F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09360" y="5029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179</a:t>
            </a:r>
            <a:endParaRPr lang="en-US" sz="3400" dirty="0"/>
          </a:p>
        </p:txBody>
      </p:sp>
      <p:sp>
        <p:nvSpPr>
          <p:cNvPr id="21" name="Text 18"/>
          <p:cNvSpPr txBox="1"/>
          <p:nvPr/>
        </p:nvSpPr>
        <p:spPr>
          <a:xfrm>
            <a:off x="6309360" y="5715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days</a:t>
            </a:r>
            <a:endParaRPr lang="en-US" sz="1400" dirty="0"/>
          </a:p>
        </p:txBody>
      </p:sp>
      <p:sp>
        <p:nvSpPr>
          <p:cNvPr id="22" name="Stat card"/>
          <p:cNvSpPr/>
          <p:nvPr/>
        </p:nvSpPr>
        <p:spPr>
          <a:xfrm>
            <a:off x="8961120" y="493776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4293F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44000" y="5029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₹1.11 Cr</a:t>
            </a:r>
            <a:endParaRPr lang="en-US" sz="34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0" y="5715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 penalty saved*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63550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*Illustrative DSM rates, 179-day backtest vs persistence scheduling. Plant is a virtual digital twin at a real location, calibrated on real data. Weather data by Open-Meteo.com (CC BY 4.0).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errors cost crores, 15 minutes at a time</a:t>
            </a:r>
            <a:endParaRPr lang="en-US" sz="3400" dirty="0"/>
          </a:p>
        </p:txBody>
      </p:sp>
      <p:sp>
        <p:nvSpPr>
          <p:cNvPr id="3" name="Problem card"/>
          <p:cNvSpPr/>
          <p:nvPr/>
        </p:nvSpPr>
        <p:spPr>
          <a:xfrm>
            <a:off x="457200" y="1234440"/>
            <a:ext cx="365760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Step number"/>
          <p:cNvSpPr/>
          <p:nvPr/>
        </p:nvSpPr>
        <p:spPr>
          <a:xfrm>
            <a:off x="685800" y="1737360"/>
            <a:ext cx="365760" cy="365760"/>
          </a:xfrm>
          <a:prstGeom prst="ellipse">
            <a:avLst/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709928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swings output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and wind must be scheduled a day ahead.</a:t>
            </a:r>
            <a:endParaRPr lang="en-US" sz="1500" dirty="0"/>
          </a:p>
        </p:txBody>
      </p:sp>
      <p:sp>
        <p:nvSpPr>
          <p:cNvPr id="8" name="Step number"/>
          <p:cNvSpPr/>
          <p:nvPr/>
        </p:nvSpPr>
        <p:spPr>
          <a:xfrm>
            <a:off x="685800" y="2761488"/>
            <a:ext cx="365760" cy="365760"/>
          </a:xfrm>
          <a:prstGeom prst="ellipse">
            <a:avLst/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734056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bands tighten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 DSM from 1 Apr 2026: ±5% solar, ±10% wind.</a:t>
            </a:r>
            <a:endParaRPr lang="en-US" sz="1500" dirty="0"/>
          </a:p>
        </p:txBody>
      </p:sp>
      <p:sp>
        <p:nvSpPr>
          <p:cNvPr id="11" name="Step number"/>
          <p:cNvSpPr/>
          <p:nvPr/>
        </p:nvSpPr>
        <p:spPr>
          <a:xfrm>
            <a:off x="685800" y="3785616"/>
            <a:ext cx="365760" cy="365760"/>
          </a:xfrm>
          <a:prstGeom prst="ellipse">
            <a:avLst/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785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758184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miss is billed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15-min block outside the band pays a deviation charge, plus fossil backup and curtailment.</a:t>
            </a:r>
            <a:endParaRPr lang="en-US" sz="1500" dirty="0"/>
          </a:p>
        </p:txBody>
      </p:sp>
      <p:sp>
        <p:nvSpPr>
          <p:cNvPr id="14" name="Chart card"/>
          <p:cNvSpPr/>
          <p:nvPr/>
        </p:nvSpPr>
        <p:spPr>
          <a:xfrm>
            <a:off x="4343400" y="1234440"/>
            <a:ext cx="475488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572000" y="13716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 PENALTIES, 179 TEST DAYS (₹ LAKH)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526280" y="1691640"/>
          <a:ext cx="43891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avings card"/>
          <p:cNvSpPr/>
          <p:nvPr/>
        </p:nvSpPr>
        <p:spPr>
          <a:xfrm>
            <a:off x="9326880" y="1234440"/>
            <a:ext cx="2404872" cy="3611880"/>
          </a:xfrm>
          <a:prstGeom prst="roundRect">
            <a:avLst>
              <a:gd name="adj" fmla="val 3802"/>
            </a:avLst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509760" y="1371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BY TERRA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509760" y="17373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₹1.11 Cr</a:t>
            </a:r>
            <a:endParaRPr lang="en-US" sz="3800" dirty="0"/>
          </a:p>
        </p:txBody>
      </p:sp>
      <p:sp>
        <p:nvSpPr>
          <p:cNvPr id="20" name="Text 17"/>
          <p:cNvSpPr txBox="1"/>
          <p:nvPr/>
        </p:nvSpPr>
        <p:spPr>
          <a:xfrm>
            <a:off x="9509760" y="2514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deviation charges (₹1,11,45,303)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9509760" y="3200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61%</a:t>
            </a:r>
            <a:endParaRPr lang="en-US" sz="3400" dirty="0"/>
          </a:p>
        </p:txBody>
      </p:sp>
      <p:sp>
        <p:nvSpPr>
          <p:cNvPr id="22" name="Text 19"/>
          <p:cNvSpPr txBox="1"/>
          <p:nvPr/>
        </p:nvSpPr>
        <p:spPr>
          <a:xfrm>
            <a:off x="9509760" y="3749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penalties than persistence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9509760" y="4297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₹29.91 L backup cost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TERRA WINS</a:t>
            </a:r>
            <a:endParaRPr lang="en-US" sz="1200" dirty="0"/>
          </a:p>
        </p:txBody>
      </p:sp>
      <p:sp>
        <p:nvSpPr>
          <p:cNvPr id="25" name="USP card"/>
          <p:cNvSpPr/>
          <p:nvPr/>
        </p:nvSpPr>
        <p:spPr>
          <a:xfrm>
            <a:off x="457200" y="534924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6" name="USP marker"/>
          <p:cNvSpPr/>
          <p:nvPr/>
        </p:nvSpPr>
        <p:spPr>
          <a:xfrm>
            <a:off x="594360" y="5486400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68680" y="54406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to rupees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platform: forecast, battery dispatch and a 96-block DSM schedule.</a:t>
            </a:r>
            <a:endParaRPr lang="en-US" sz="1400" dirty="0"/>
          </a:p>
        </p:txBody>
      </p:sp>
      <p:sp>
        <p:nvSpPr>
          <p:cNvPr id="28" name="USP card"/>
          <p:cNvSpPr/>
          <p:nvPr/>
        </p:nvSpPr>
        <p:spPr>
          <a:xfrm>
            <a:off x="3291840" y="534924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9" name="USP marker"/>
          <p:cNvSpPr/>
          <p:nvPr/>
        </p:nvSpPr>
        <p:spPr>
          <a:xfrm>
            <a:off x="3429000" y="5486400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703320" y="54406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when it is unsure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80% band and Trust score (Spearman −0.67 vs error).</a:t>
            </a:r>
            <a:endParaRPr lang="en-US" sz="1400" dirty="0"/>
          </a:p>
        </p:txBody>
      </p:sp>
      <p:sp>
        <p:nvSpPr>
          <p:cNvPr id="31" name="USP card"/>
          <p:cNvSpPr/>
          <p:nvPr/>
        </p:nvSpPr>
        <p:spPr>
          <a:xfrm>
            <a:off x="6126480" y="534924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2" name="USP marker"/>
          <p:cNvSpPr/>
          <p:nvPr/>
        </p:nvSpPr>
        <p:spPr>
          <a:xfrm>
            <a:off x="6263640" y="5486400"/>
            <a:ext cx="201168" cy="201168"/>
          </a:xfrm>
          <a:prstGeom prst="ellipse">
            <a:avLst/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537960" y="54406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Leak-free and honest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24/48 h lead mapping; every number from the eval harness.</a:t>
            </a:r>
            <a:endParaRPr lang="en-US" sz="1400" dirty="0"/>
          </a:p>
        </p:txBody>
      </p:sp>
      <p:sp>
        <p:nvSpPr>
          <p:cNvPr id="34" name="USP card"/>
          <p:cNvSpPr/>
          <p:nvPr/>
        </p:nvSpPr>
        <p:spPr>
          <a:xfrm>
            <a:off x="8961120" y="534924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5" name="USP marker"/>
          <p:cNvSpPr/>
          <p:nvPr/>
        </p:nvSpPr>
        <p:spPr>
          <a:xfrm>
            <a:off x="9098280" y="5486400"/>
            <a:ext cx="201168" cy="20116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372600" y="54406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Hybrid, ready to pilot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+ wind + battery together; real SCADA is a config swap.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 rates are illustrative placeholders (verify before quoting); tolerance bands per CERC from 1 Apr 2026.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features that move forecast into action</a:t>
            </a:r>
            <a:endParaRPr lang="en-US" sz="3400" dirty="0"/>
          </a:p>
        </p:txBody>
      </p:sp>
      <p:pic>
        <p:nvPicPr>
          <p:cNvPr id="3" name="Image 0" descr="Control Room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383280" cy="1879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3114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Room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 forecast with band, trust ribbon, alerts</a:t>
            </a:r>
            <a:endParaRPr lang="en-US" sz="1500" dirty="0"/>
          </a:p>
        </p:txBody>
      </p:sp>
      <p:pic>
        <p:nvPicPr>
          <p:cNvPr id="5" name="Image 1" descr="Trust Score scre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836" y="1143000"/>
            <a:ext cx="3383280" cy="1879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4402836" y="3114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operators when not to rely on the forecast</a:t>
            </a:r>
            <a:endParaRPr lang="en-US" sz="1500" dirty="0"/>
          </a:p>
        </p:txBody>
      </p:sp>
      <p:pic>
        <p:nvPicPr>
          <p:cNvPr id="7" name="Image 2" descr="Smart Alerts scre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1143000"/>
            <a:ext cx="3383280" cy="1879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Text 3"/>
          <p:cNvSpPr txBox="1"/>
          <p:nvPr/>
        </p:nvSpPr>
        <p:spPr>
          <a:xfrm>
            <a:off x="8348472" y="3114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Alerts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Low, high, ramp and demand-deficit warnings</a:t>
            </a:r>
            <a:endParaRPr lang="en-US" sz="1500" dirty="0"/>
          </a:p>
        </p:txBody>
      </p:sp>
      <p:pic>
        <p:nvPicPr>
          <p:cNvPr id="9" name="Image 3" descr="Dispatch Advisor scre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40480"/>
            <a:ext cx="3383280" cy="1879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10" name="Text 4"/>
          <p:cNvSpPr txBox="1"/>
          <p:nvPr/>
        </p:nvSpPr>
        <p:spPr>
          <a:xfrm>
            <a:off x="457200" y="5811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Advisor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plan cuts fossil backup and curtailment</a:t>
            </a:r>
            <a:endParaRPr lang="en-US" sz="1500" dirty="0"/>
          </a:p>
        </p:txBody>
      </p:sp>
      <p:sp>
        <p:nvSpPr>
          <p:cNvPr id="11" name="Money tag"/>
          <p:cNvSpPr/>
          <p:nvPr/>
        </p:nvSpPr>
        <p:spPr>
          <a:xfrm>
            <a:off x="3200400" y="5829808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3200400" y="58298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impact</a:t>
            </a:r>
            <a:endParaRPr lang="en-US" sz="1000" dirty="0"/>
          </a:p>
        </p:txBody>
      </p:sp>
      <p:pic>
        <p:nvPicPr>
          <p:cNvPr id="13" name="Image 4" descr="What-if Simulator scree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2836" y="3840480"/>
            <a:ext cx="3383280" cy="1879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14" name="Text 7"/>
          <p:cNvSpPr txBox="1"/>
          <p:nvPr/>
        </p:nvSpPr>
        <p:spPr>
          <a:xfrm>
            <a:off x="4402836" y="5811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Simulator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Cloudy day, low wind, bigger battery: see ₹ and CO₂</a:t>
            </a:r>
            <a:endParaRPr lang="en-US" sz="1500" dirty="0"/>
          </a:p>
        </p:txBody>
      </p:sp>
      <p:sp>
        <p:nvSpPr>
          <p:cNvPr id="15" name="Money tag"/>
          <p:cNvSpPr/>
          <p:nvPr/>
        </p:nvSpPr>
        <p:spPr>
          <a:xfrm>
            <a:off x="7146036" y="5829808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6" name="Text 9"/>
          <p:cNvSpPr txBox="1"/>
          <p:nvPr/>
        </p:nvSpPr>
        <p:spPr>
          <a:xfrm>
            <a:off x="7146036" y="58298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impact</a:t>
            </a:r>
            <a:endParaRPr lang="en-US" sz="1000" dirty="0"/>
          </a:p>
        </p:txBody>
      </p:sp>
      <p:pic>
        <p:nvPicPr>
          <p:cNvPr id="17" name="Image 5" descr="Deviation Shield scree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8472" y="3840480"/>
            <a:ext cx="3383280" cy="1879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18" name="Text 10"/>
          <p:cNvSpPr txBox="1"/>
          <p:nvPr/>
        </p:nvSpPr>
        <p:spPr>
          <a:xfrm>
            <a:off x="8348472" y="5811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Shield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 DSM schedule and charges, CSV export</a:t>
            </a:r>
            <a:endParaRPr lang="en-US" sz="1500" dirty="0"/>
          </a:p>
        </p:txBody>
      </p:sp>
      <p:sp>
        <p:nvSpPr>
          <p:cNvPr id="19" name="Money tag"/>
          <p:cNvSpPr/>
          <p:nvPr/>
        </p:nvSpPr>
        <p:spPr>
          <a:xfrm>
            <a:off x="11091672" y="5829808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0" name="Text 12"/>
          <p:cNvSpPr txBox="1"/>
          <p:nvPr/>
        </p:nvSpPr>
        <p:spPr>
          <a:xfrm>
            <a:off x="11091672" y="58298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impact</a:t>
            </a:r>
            <a:endParaRPr lang="en-US" sz="1000" dirty="0"/>
          </a:p>
        </p:txBody>
      </p:sp>
      <p:sp>
        <p:nvSpPr>
          <p:cNvPr id="21" name="Text 13"/>
          <p:cNvSpPr txBox="1"/>
          <p:nvPr/>
        </p:nvSpPr>
        <p:spPr>
          <a:xfrm>
            <a:off x="457200" y="6556248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from the running dashboard (replay mode, issue time 10 Apr 05:30 IST). Weather data by Open-Meteo.com (CC BY 4.0).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weather in, rupee decisions out</a:t>
            </a:r>
            <a:endParaRPr lang="en-US" sz="3400" dirty="0"/>
          </a:p>
        </p:txBody>
      </p:sp>
      <p:sp>
        <p:nvSpPr>
          <p:cNvPr id="3" name="Layer card"/>
          <p:cNvSpPr/>
          <p:nvPr/>
        </p:nvSpPr>
        <p:spPr>
          <a:xfrm>
            <a:off x="457200" y="1325880"/>
            <a:ext cx="1993392" cy="338328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Layer header"/>
          <p:cNvSpPr/>
          <p:nvPr/>
        </p:nvSpPr>
        <p:spPr>
          <a:xfrm>
            <a:off x="457200" y="1325880"/>
            <a:ext cx="1993392" cy="502920"/>
          </a:xfrm>
          <a:prstGeom prst="roundRect">
            <a:avLst>
              <a:gd name="adj" fmla="val 18182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258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DATA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11680"/>
            <a:ext cx="171907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Open-Meteo: ECMWF IFS forecast + archive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datasets for calibration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config/*.yaml: plant, battery, DSM, costs</a:t>
            </a:r>
            <a:endParaRPr lang="en-US" sz="1300" dirty="0"/>
          </a:p>
        </p:txBody>
      </p:sp>
      <p:sp>
        <p:nvSpPr>
          <p:cNvPr id="7" name="Flow arrow"/>
          <p:cNvSpPr/>
          <p:nvPr/>
        </p:nvSpPr>
        <p:spPr>
          <a:xfrm>
            <a:off x="2487168" y="2834640"/>
            <a:ext cx="256032" cy="274320"/>
          </a:xfrm>
          <a:prstGeom prst="rightArrow">
            <a:avLst/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8" name="Layer card"/>
          <p:cNvSpPr/>
          <p:nvPr/>
        </p:nvSpPr>
        <p:spPr>
          <a:xfrm>
            <a:off x="2779776" y="1325880"/>
            <a:ext cx="1993392" cy="338328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Layer header"/>
          <p:cNvSpPr/>
          <p:nvPr/>
        </p:nvSpPr>
        <p:spPr>
          <a:xfrm>
            <a:off x="2779776" y="1325880"/>
            <a:ext cx="1993392" cy="502920"/>
          </a:xfrm>
          <a:prstGeom prst="roundRect">
            <a:avLst>
              <a:gd name="adj" fmla="val 18182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79776" y="13258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TWIN + FEATURES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916936" y="2011680"/>
            <a:ext cx="171907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pvlib solar, windpowerlib wind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 layer: soiling, outages, curtailment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Leak-free lead map: fx1 (1–24 h), fx2 (25–48 h)</a:t>
            </a:r>
            <a:endParaRPr lang="en-US" sz="1300" dirty="0"/>
          </a:p>
        </p:txBody>
      </p:sp>
      <p:sp>
        <p:nvSpPr>
          <p:cNvPr id="12" name="Flow arrow"/>
          <p:cNvSpPr/>
          <p:nvPr/>
        </p:nvSpPr>
        <p:spPr>
          <a:xfrm>
            <a:off x="4809744" y="2834640"/>
            <a:ext cx="256032" cy="274320"/>
          </a:xfrm>
          <a:prstGeom prst="rightArrow">
            <a:avLst/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13" name="Layer card"/>
          <p:cNvSpPr/>
          <p:nvPr/>
        </p:nvSpPr>
        <p:spPr>
          <a:xfrm>
            <a:off x="5102352" y="1325880"/>
            <a:ext cx="1993392" cy="338328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Layer header"/>
          <p:cNvSpPr/>
          <p:nvPr/>
        </p:nvSpPr>
        <p:spPr>
          <a:xfrm>
            <a:off x="5102352" y="1325880"/>
            <a:ext cx="1993392" cy="502920"/>
          </a:xfrm>
          <a:prstGeom prst="roundRect">
            <a:avLst>
              <a:gd name="adj" fmla="val 18182"/>
            </a:avLst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02352" y="13258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MODELS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239512" y="2011680"/>
            <a:ext cx="171907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Persistence, week-mean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+ LightGBM quantile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+ conformal band (CQR)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Chronos-2 benchmark (Kaggle GPU)</a:t>
            </a:r>
            <a:endParaRPr lang="en-US" sz="1300" dirty="0"/>
          </a:p>
        </p:txBody>
      </p:sp>
      <p:sp>
        <p:nvSpPr>
          <p:cNvPr id="17" name="Flow arrow"/>
          <p:cNvSpPr/>
          <p:nvPr/>
        </p:nvSpPr>
        <p:spPr>
          <a:xfrm>
            <a:off x="7132320" y="2834640"/>
            <a:ext cx="256032" cy="274320"/>
          </a:xfrm>
          <a:prstGeom prst="rightArrow">
            <a:avLst/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18" name="Layer card"/>
          <p:cNvSpPr/>
          <p:nvPr/>
        </p:nvSpPr>
        <p:spPr>
          <a:xfrm>
            <a:off x="7424928" y="1325880"/>
            <a:ext cx="1993392" cy="338328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Layer header"/>
          <p:cNvSpPr/>
          <p:nvPr/>
        </p:nvSpPr>
        <p:spPr>
          <a:xfrm>
            <a:off x="7424928" y="1325880"/>
            <a:ext cx="1993392" cy="502920"/>
          </a:xfrm>
          <a:prstGeom prst="roundRect">
            <a:avLst>
              <a:gd name="adj" fmla="val 18182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24928" y="13258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ENGINES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562088" y="2011680"/>
            <a:ext cx="171907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band, Trust, Alerts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LP, What-if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Shield (DSM)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₹, MWh, CO₂</a:t>
            </a:r>
            <a:endParaRPr lang="en-US" sz="1300" dirty="0"/>
          </a:p>
        </p:txBody>
      </p:sp>
      <p:sp>
        <p:nvSpPr>
          <p:cNvPr id="22" name="Flow arrow"/>
          <p:cNvSpPr/>
          <p:nvPr/>
        </p:nvSpPr>
        <p:spPr>
          <a:xfrm>
            <a:off x="9454896" y="2834640"/>
            <a:ext cx="256032" cy="274320"/>
          </a:xfrm>
          <a:prstGeom prst="rightArrow">
            <a:avLst/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23" name="Layer card"/>
          <p:cNvSpPr/>
          <p:nvPr/>
        </p:nvSpPr>
        <p:spPr>
          <a:xfrm>
            <a:off x="9747504" y="1325880"/>
            <a:ext cx="1993392" cy="338328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Layer header"/>
          <p:cNvSpPr/>
          <p:nvPr/>
        </p:nvSpPr>
        <p:spPr>
          <a:xfrm>
            <a:off x="9747504" y="1325880"/>
            <a:ext cx="1993392" cy="502920"/>
          </a:xfrm>
          <a:prstGeom prst="roundRect">
            <a:avLst>
              <a:gd name="adj" fmla="val 18182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47504" y="13258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SERVE + UI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884664" y="2011680"/>
            <a:ext cx="171907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hourly APScheduler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store, SSE live push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ECharts, 10 pages</a:t>
            </a:r>
            <a:endParaRPr lang="en-US" sz="1300" dirty="0"/>
          </a:p>
        </p:txBody>
      </p:sp>
      <p:sp>
        <p:nvSpPr>
          <p:cNvPr id="27" name="Eval band"/>
          <p:cNvSpPr/>
          <p:nvPr/>
        </p:nvSpPr>
        <p:spPr>
          <a:xfrm>
            <a:off x="457200" y="4983480"/>
            <a:ext cx="5852160" cy="1234440"/>
          </a:xfrm>
          <a:prstGeom prst="roundRect">
            <a:avLst>
              <a:gd name="adj" fmla="val 7407"/>
            </a:avLst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50749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HARNESS (ml/terra/eval)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splits, no actual-weather features, MAE / RMSE / band coverage. Every number in UI and report is generated, never typed.</a:t>
            </a:r>
            <a:endParaRPr lang="en-US" sz="1200" dirty="0"/>
          </a:p>
        </p:txBody>
      </p:sp>
      <p:sp>
        <p:nvSpPr>
          <p:cNvPr id="29" name="Output band"/>
          <p:cNvSpPr/>
          <p:nvPr/>
        </p:nvSpPr>
        <p:spPr>
          <a:xfrm>
            <a:off x="6492240" y="4983480"/>
            <a:ext cx="523951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5400">
            <a:solidFill>
              <a:srgbClr val="F5A52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20840" y="507492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 OUTPUTS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Next-day DSM schedule (96 × 15-min blocks, CSV) · planned cost · backup MWh avoided · CO₂ avoided (CEA 0.705 t/MWh)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Pure-Python engines (no web code) keep the decision logic testable; the plant data source is a config swap from twin to real SCADA.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better, pay less, burn less</a:t>
            </a:r>
            <a:endParaRPr lang="en-US" sz="3400" dirty="0"/>
          </a:p>
        </p:txBody>
      </p:sp>
      <p:sp>
        <p:nvSpPr>
          <p:cNvPr id="3" name="KPI card"/>
          <p:cNvSpPr/>
          <p:nvPr/>
        </p:nvSpPr>
        <p:spPr>
          <a:xfrm>
            <a:off x="457200" y="128016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14293F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463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₹1.11 Cr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 charges saved*</a:t>
            </a:r>
            <a:endParaRPr lang="en-US" sz="1300" dirty="0"/>
          </a:p>
        </p:txBody>
      </p:sp>
      <p:sp>
        <p:nvSpPr>
          <p:cNvPr id="6" name="KPI card"/>
          <p:cNvSpPr/>
          <p:nvPr/>
        </p:nvSpPr>
        <p:spPr>
          <a:xfrm>
            <a:off x="3154680" y="128016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14293F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463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₹29.9 L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cost saved</a:t>
            </a:r>
            <a:endParaRPr lang="en-US" sz="1300" dirty="0"/>
          </a:p>
        </p:txBody>
      </p:sp>
      <p:sp>
        <p:nvSpPr>
          <p:cNvPr id="9" name="KPI card"/>
          <p:cNvSpPr/>
          <p:nvPr/>
        </p:nvSpPr>
        <p:spPr>
          <a:xfrm>
            <a:off x="457200" y="292608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14293F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1089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305 MWh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840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fossil backup avoided</a:t>
            </a:r>
            <a:endParaRPr lang="en-US" sz="1300" dirty="0"/>
          </a:p>
        </p:txBody>
      </p:sp>
      <p:sp>
        <p:nvSpPr>
          <p:cNvPr id="12" name="KPI card"/>
          <p:cNvSpPr/>
          <p:nvPr/>
        </p:nvSpPr>
        <p:spPr>
          <a:xfrm>
            <a:off x="3154680" y="292608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14293F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0" y="31089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215 t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3840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avoided</a:t>
            </a:r>
            <a:endParaRPr lang="en-US" sz="1300" dirty="0"/>
          </a:p>
        </p:txBody>
      </p:sp>
      <p:pic>
        <p:nvPicPr>
          <p:cNvPr id="15" name="Image 0" descr="TERRA Impact page: CO2, backup energy, cost and deviation sav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280160"/>
            <a:ext cx="5788152" cy="321564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16" name="Business card"/>
          <p:cNvSpPr/>
          <p:nvPr/>
        </p:nvSpPr>
        <p:spPr>
          <a:xfrm>
            <a:off x="457200" y="4663440"/>
            <a:ext cx="5120640" cy="1645920"/>
          </a:xfrm>
          <a:prstGeom prst="roundRect">
            <a:avLst>
              <a:gd name="adj" fmla="val 5556"/>
            </a:avLst>
          </a:prstGeom>
          <a:solidFill>
            <a:srgbClr val="14293F"/>
          </a:solidFill>
          <a:ln w="19050">
            <a:solidFill>
              <a:srgbClr val="F5A52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4754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(HYPOTHESIS)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50749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SaaS: ₹5,000 per MW per month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tier: ₹50,000 per site per month, via QCAs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MW plant ≈ ₹4.5 L/month; the 179-day DSM saving is ~4× the fee</a:t>
            </a:r>
            <a:endParaRPr lang="en-US" sz="1300" dirty="0"/>
          </a:p>
        </p:txBody>
      </p:sp>
      <p:sp>
        <p:nvSpPr>
          <p:cNvPr id="19" name="Next step card"/>
          <p:cNvSpPr/>
          <p:nvPr/>
        </p:nvSpPr>
        <p:spPr>
          <a:xfrm>
            <a:off x="5760720" y="4663440"/>
            <a:ext cx="1874520" cy="1645920"/>
          </a:xfrm>
          <a:prstGeom prst="roundRect">
            <a:avLst>
              <a:gd name="adj" fmla="val 5556"/>
            </a:avLst>
          </a:prstGeom>
          <a:solidFill>
            <a:srgbClr val="14293F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97880" y="475488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beside a real IPP/QCA plant on SCADA data</a:t>
            </a:r>
            <a:endParaRPr lang="en-US" sz="1700" dirty="0"/>
          </a:p>
        </p:txBody>
      </p:sp>
      <p:sp>
        <p:nvSpPr>
          <p:cNvPr id="21" name="Next step card"/>
          <p:cNvSpPr/>
          <p:nvPr/>
        </p:nvSpPr>
        <p:spPr>
          <a:xfrm>
            <a:off x="7772400" y="4663440"/>
            <a:ext cx="1874520" cy="1645920"/>
          </a:xfrm>
          <a:prstGeom prst="roundRect">
            <a:avLst>
              <a:gd name="adj" fmla="val 5556"/>
            </a:avLst>
          </a:prstGeom>
          <a:solidFill>
            <a:srgbClr val="14293F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909560" y="475488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illustrative DSM rates with MPERC / CERC schedules</a:t>
            </a:r>
            <a:endParaRPr lang="en-US" sz="1700" dirty="0"/>
          </a:p>
        </p:txBody>
      </p:sp>
      <p:sp>
        <p:nvSpPr>
          <p:cNvPr id="23" name="Next step card"/>
          <p:cNvSpPr/>
          <p:nvPr/>
        </p:nvSpPr>
        <p:spPr>
          <a:xfrm>
            <a:off x="9784080" y="4663440"/>
            <a:ext cx="1874520" cy="1645920"/>
          </a:xfrm>
          <a:prstGeom prst="roundRect">
            <a:avLst>
              <a:gd name="adj" fmla="val 5556"/>
            </a:avLst>
          </a:prstGeom>
          <a:solidFill>
            <a:srgbClr val="14293F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921240" y="475488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Chronos-2 fine-tune, wider region, live deployment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*Illustrative rates, 179-day held-out backtest vs persistence. Plant is a virtual digital twin at a real location, calibrated on real data; not operator data. Weather: Open-Meteo.com (CC BY 4.0).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 — Hybrid Solar + Wind Forecasting</dc:title>
  <dc:subject>PptxGenJS Presentation</dc:subject>
  <dc:creator>Team OVERxPOWERED</dc:creator>
  <cp:lastModifiedBy>Team OVERxPOWERED</cp:lastModifiedBy>
  <cp:revision>1</cp:revision>
  <dcterms:created xsi:type="dcterms:W3CDTF">2026-10-09T09:47:19Z</dcterms:created>
  <dcterms:modified xsi:type="dcterms:W3CDTF">2026-10-09T09:47:19Z</dcterms:modified>
</cp:coreProperties>
</file>