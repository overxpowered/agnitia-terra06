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7251E"/>
                </a:solidFill>
                <a:latin typeface="Calibri"/>
              </a:rPr>
              <a:t>What the AI takes in, gives back, and how we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586A60"/>
                </a:solidFill>
                <a:latin typeface="Calibri"/>
              </a:rPr>
              <a:t>Hourly solar and wind generation for the next 24 to 48 hours, with an honest range around every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06040" cy="3840480"/>
          </a:xfrm>
          <a:prstGeom prst="roundRect">
            <a:avLst>
              <a:gd name="adj" fmla="val 4000"/>
            </a:avLst>
          </a:prstGeom>
          <a:solidFill>
            <a:srgbClr val="FAFBF7"/>
          </a:solidFill>
          <a:ln>
            <a:solidFill>
              <a:srgbClr val="D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E5A43"/>
                </a:solidFill>
                <a:latin typeface="Calibri"/>
              </a:rPr>
              <a:t>1  What goes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40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Tomorrow's weather forecast: sunshine, cloud, wind speed and direction, temperature, humidity, pressure, rain.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Sun position and the calendar: hour, season, daylight.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What the plant produced up to now, never after.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How many hours ahead we are predicting.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No actual weather is ever used as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06040" cy="3840480"/>
          </a:xfrm>
          <a:prstGeom prst="roundRect">
            <a:avLst>
              <a:gd name="adj" fmla="val 4000"/>
            </a:avLst>
          </a:prstGeom>
          <a:solidFill>
            <a:srgbClr val="FAFBF7"/>
          </a:solidFill>
          <a:ln>
            <a:solidFill>
              <a:srgbClr val="D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19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E5A43"/>
                </a:solidFill>
                <a:latin typeface="Calibri"/>
              </a:rPr>
              <a:t>2  Physics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240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Physics model: what a solar or wind plant should produce in this weather.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LightGBM (the AI): learns from history where the physics model is wrong and corrects it.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A weighted blend of the two, with weights set separately for near and far hours.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Ranges are then calibrated on a separate window so they hold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06040" cy="3840480"/>
          </a:xfrm>
          <a:prstGeom prst="roundRect">
            <a:avLst>
              <a:gd name="adj" fmla="val 4000"/>
            </a:avLst>
          </a:prstGeom>
          <a:solidFill>
            <a:srgbClr val="FAFBF7"/>
          </a:solidFill>
          <a:ln>
            <a:solidFill>
              <a:srgbClr val="D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19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E5A43"/>
                </a:solidFill>
                <a:latin typeface="Calibri"/>
              </a:rPr>
              <a:t>3  What comes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240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For every hour, a range in MW instead of one number: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Median: the best guess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P10 to P90: 80% chance the real value lands inside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P5 to P95: the outer edges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A trust score from 0 to 100 for each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08760"/>
            <a:ext cx="2606040" cy="3840480"/>
          </a:xfrm>
          <a:prstGeom prst="roundRect">
            <a:avLst>
              <a:gd name="adj" fmla="val 4000"/>
            </a:avLst>
          </a:prstGeom>
          <a:solidFill>
            <a:srgbClr val="FAFBF7"/>
          </a:solidFill>
          <a:ln>
            <a:solidFill>
              <a:srgbClr val="D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19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E5A43"/>
                </a:solidFill>
                <a:latin typeface="Calibri"/>
              </a:rPr>
              <a:t>4  How we use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240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Alerts for low or high generation.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Battery and backup plan for the day.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Deviation-charge estimate (illustrative rates).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Trust score marks which hours to rely on.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51E"/>
                </a:solidFill>
                <a:latin typeface="Calibri"/>
              </a:rPr>
              <a:t>Dashboard shows forecast against what happened.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63824" y="3300984"/>
            <a:ext cx="210312" cy="256032"/>
          </a:xfrm>
          <a:prstGeom prst="rightArrow">
            <a:avLst/>
          </a:prstGeom>
          <a:solidFill>
            <a:srgbClr val="1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98464" y="3300984"/>
            <a:ext cx="210312" cy="256032"/>
          </a:xfrm>
          <a:prstGeom prst="rightArrow">
            <a:avLst/>
          </a:prstGeom>
          <a:solidFill>
            <a:srgbClr val="1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33104" y="3300984"/>
            <a:ext cx="210312" cy="256032"/>
          </a:xfrm>
          <a:prstGeom prst="rightArrow">
            <a:avLst/>
          </a:prstGeom>
          <a:solidFill>
            <a:srgbClr val="1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1E5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On a test period the model never saw, the blend makes about 28% less error than the persistence baseline for solar (daylight) and 36% less for wind.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Real Open-Meteo weather, virtual digital-twin plant at a real location. All figures come from our evaluation harness.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